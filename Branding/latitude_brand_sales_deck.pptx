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5B7FA6"/>
          </a:solidFill>
          <a:ln w="12700">
            <a:solidFill>
              <a:srgbClr val="5B7F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234440"/>
            <a:ext cx="8138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spc="5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LATITUDE MEDTECH LLC</a:t>
            </a:r>
            <a:endParaRPr lang="en-US" sz="4600" dirty="0"/>
          </a:p>
        </p:txBody>
      </p:sp>
      <p:sp>
        <p:nvSpPr>
          <p:cNvPr id="4" name="Shape 2"/>
          <p:cNvSpPr/>
          <p:nvPr/>
        </p:nvSpPr>
        <p:spPr>
          <a:xfrm>
            <a:off x="502920" y="2084832"/>
            <a:ext cx="8138160" cy="27432"/>
          </a:xfrm>
          <a:prstGeom prst="rect">
            <a:avLst/>
          </a:prstGeom>
          <a:solidFill>
            <a:srgbClr val="5B7FA6"/>
          </a:solidFill>
          <a:ln w="12700">
            <a:solidFill>
              <a:srgbClr val="5B7F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21284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5B7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Consulting for MedTech &amp; Pharma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02920" y="3977640"/>
            <a:ext cx="8138160" cy="2286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411480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Steven Tran  ·  Managing Partner &amp; CEO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443484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A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 Diego, CA  ·  latitudemedtech.com  ·  Alpha Phase ·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03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$7B Problem Nobody Solves Well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24128"/>
            <a:ext cx="6035040" cy="22860"/>
          </a:xfrm>
          <a:prstGeom prst="rect">
            <a:avLst/>
          </a:prstGeom>
          <a:solidFill>
            <a:srgbClr val="5B7FA6"/>
          </a:solidFill>
          <a:ln w="12700">
            <a:solidFill>
              <a:srgbClr val="5B7F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143000"/>
            <a:ext cx="603504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6,000+ medical device companies in the US; fewer than 12% have dedicated in-house RA/QA staff</a:t>
            </a:r>
            <a:endParaRPr lang="en-US" sz="145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FDA 510(k) clearance: 177 days for the least complex devices; PMA averages 3–5 years</a:t>
            </a:r>
            <a:endParaRPr lang="en-US" sz="145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4 consultancies charge $350–$600/hr with 6-month minimums — inaccessible to Series A/B startups</a:t>
            </a:r>
            <a:endParaRPr lang="en-US" sz="1450" dirty="0"/>
          </a:p>
          <a:p>
            <a:pPr algn="l" marL="342900" indent="-342900">
              <a:buSzPct val="100000"/>
              <a:buChar char="•"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AI tools (Lilli, GENE) answer queries; they do not reason, plan, or execute alongside the client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858000" y="822960"/>
            <a:ext cx="1920240" cy="2560320"/>
          </a:xfrm>
          <a:prstGeom prst="rect">
            <a:avLst/>
          </a:prstGeom>
          <a:solidFill>
            <a:srgbClr val="EBF0F6"/>
          </a:solidFill>
          <a:ln w="19050">
            <a:solidFill>
              <a:srgbClr val="5B7F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0" y="914400"/>
            <a:ext cx="1920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5B7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177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6858000" y="214884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510(k)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clearance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8A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FDA CDRH Device Advice, 2024 performance data. Figures are illustrative benchmarks.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89120" cy="5143500"/>
          </a:xfrm>
          <a:prstGeom prst="rect">
            <a:avLst/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45720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5B7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LATITUDE MEDTECH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777240"/>
            <a:ext cx="3749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AI-Native MedTech</a:t>
            </a:r>
            <a:endParaRPr lang="en-US" sz="2200" dirty="0"/>
          </a:p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Consulting. Built for Speed.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2148840"/>
            <a:ext cx="3749040" cy="22860"/>
          </a:xfrm>
          <a:prstGeom prst="rect">
            <a:avLst/>
          </a:prstGeom>
          <a:solidFill>
            <a:srgbClr val="5B7FA6"/>
          </a:solidFill>
          <a:ln w="12700">
            <a:solidFill>
              <a:srgbClr val="5B7F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2286000"/>
            <a:ext cx="374904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Latitude MedTech LLC · San Diego, CA · Biocom member</a:t>
            </a:r>
            <a:endParaRPr lang="en-US" sz="13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E2E AI-powered management consulting — MedTech &amp; Pharma</a:t>
            </a:r>
            <a:endParaRPr lang="en-US" sz="13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lines: Coaching (active) + Consulting (scaling)</a:t>
            </a:r>
            <a:endParaRPr lang="en-US" sz="1300" dirty="0"/>
          </a:p>
          <a:p>
            <a:pPr algn="l"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6-month minimums. No junior staff. Senior expertise, AI-augmented.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663440" y="45720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8A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MANAGING PARTNER &amp; CEO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663440" y="7772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Steven Tran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4663440" y="1389888"/>
            <a:ext cx="4114800" cy="22860"/>
          </a:xfrm>
          <a:prstGeom prst="rect">
            <a:avLst/>
          </a:prstGeom>
          <a:solidFill>
            <a:srgbClr val="5B7FA6"/>
          </a:solidFill>
          <a:ln w="12700">
            <a:solidFill>
              <a:srgbClr val="5B7F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155448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Expertise</a:t>
            </a:r>
            <a:endParaRPr lang="en-US" sz="1300" dirty="0"/>
          </a:p>
          <a:p>
            <a:pPr algn="l" indent="0" marL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FDA 21 CFR 820  ·  ISO 13485  ·  EU MDR  ·  MDSAP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&amp; Community</a:t>
            </a:r>
            <a:endParaRPr lang="en-US" sz="1300" dirty="0"/>
          </a:p>
          <a:p>
            <a:pPr algn="l" indent="0" marL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Biocom SoCal corridor  ·  UC San Diego  ·  RAPS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</a:t>
            </a:r>
            <a:endParaRPr lang="en-US" sz="1300" dirty="0"/>
          </a:p>
          <a:p>
            <a:pPr algn="l" indent="0" marL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5B7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steven.tran@latitudemedtech.com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5B7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linkedin.com/in/huanntran100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C3E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AI Consulting Backbone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87552"/>
            <a:ext cx="5669280" cy="22860"/>
          </a:xfrm>
          <a:prstGeom prst="rect">
            <a:avLst/>
          </a:prstGeom>
          <a:solidFill>
            <a:srgbClr val="5B7FA6"/>
          </a:solidFill>
          <a:ln w="12700">
            <a:solidFill>
              <a:srgbClr val="5B7F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0"/>
            <a:ext cx="566928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Athena is Latitude's proprietary AI system — not a chatbot, an autonomous reasoning engine</a:t>
            </a:r>
            <a:endParaRPr lang="en-US" sz="1350" dirty="0"/>
          </a:p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Voice-activated briefings: speak a regulatory question, receive a structured analysis in seconds</a:t>
            </a:r>
            <a:endParaRPr lang="en-US" sz="1350" dirty="0"/>
          </a:p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base: 50-year regulatory history — FDA enforcement actions back to the 1976 Medical Device Act, full ISO 13485 and EU MDR corpus</a:t>
            </a:r>
            <a:endParaRPr lang="en-US" sz="1350" dirty="0"/>
          </a:p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reasoning vs. search: Athena synthesizes, plans, and executes — it does not return links</a:t>
            </a:r>
            <a:endParaRPr lang="en-US" sz="1350" dirty="0"/>
          </a:p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Lilli (McKinsey): client-side deployment, no vendor lock-in, auditable reasoning chain</a:t>
            </a:r>
            <a:endParaRPr lang="en-US" sz="1350" dirty="0"/>
          </a:p>
          <a:p>
            <a:pPr algn="l" marL="342900" indent="-342900"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GENE (Deloitte): transparent outputs, MedTech-specific corpus, voice-first interface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537960" y="914400"/>
            <a:ext cx="2286000" cy="2926080"/>
          </a:xfrm>
          <a:prstGeom prst="rect">
            <a:avLst/>
          </a:prstGeom>
          <a:solidFill>
            <a:srgbClr val="1A2B3C"/>
          </a:solidFill>
          <a:ln w="19050">
            <a:solidFill>
              <a:srgbClr val="5B7F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37960" y="100584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5B7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8000" dirty="0"/>
          </a:p>
        </p:txBody>
      </p:sp>
      <p:sp>
        <p:nvSpPr>
          <p:cNvPr id="7" name="Text 5"/>
          <p:cNvSpPr/>
          <p:nvPr/>
        </p:nvSpPr>
        <p:spPr>
          <a:xfrm>
            <a:off x="6537960" y="214884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Athena's KB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Coaching Line — Active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5B7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QA Associate to Director in 18 Months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274320" y="1234440"/>
            <a:ext cx="27432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D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234440"/>
            <a:ext cx="2743200" cy="73152"/>
          </a:xfrm>
          <a:prstGeom prst="rect">
            <a:avLst/>
          </a:prstGeom>
          <a:solidFill>
            <a:srgbClr val="5B7FA6"/>
          </a:solidFill>
          <a:ln w="12700">
            <a:solidFill>
              <a:srgbClr val="5B7F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353312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Roadmap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11480" y="2084832"/>
            <a:ext cx="2468880" cy="18288"/>
          </a:xfrm>
          <a:prstGeom prst="rect">
            <a:avLst/>
          </a:prstGeom>
          <a:solidFill>
            <a:srgbClr val="EBF0F6"/>
          </a:solidFill>
          <a:ln w="12700">
            <a:solidFill>
              <a:srgbClr val="EBF0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2176272"/>
            <a:ext cx="2468880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12-month plan: skills gap analysis, target role mapping, certification sequencing (RAPS RAC, ASQ CQE/CBA). Benchmarked to SoCal device market salaries.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182112" y="1234440"/>
            <a:ext cx="27432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D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182112" y="1234440"/>
            <a:ext cx="2743200" cy="73152"/>
          </a:xfrm>
          <a:prstGeom prst="rect">
            <a:avLst/>
          </a:prstGeom>
          <a:solidFill>
            <a:srgbClr val="5B7FA6"/>
          </a:solidFill>
          <a:ln w="12700">
            <a:solidFill>
              <a:srgbClr val="5B7F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19272" y="1353312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&amp;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Positioning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319272" y="2084832"/>
            <a:ext cx="2468880" cy="18288"/>
          </a:xfrm>
          <a:prstGeom prst="rect">
            <a:avLst/>
          </a:prstGeom>
          <a:solidFill>
            <a:srgbClr val="EBF0F6"/>
          </a:solidFill>
          <a:ln w="12700">
            <a:solidFill>
              <a:srgbClr val="EBF0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19272" y="2176272"/>
            <a:ext cx="2468880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510(k) and EU MDR technical interview prep; regulatory portfolio review; compensation benchmarking for roles at Edwards, Masimo, Dexcom, and SoCal startups.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89904" y="1234440"/>
            <a:ext cx="27432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D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89904" y="1234440"/>
            <a:ext cx="2743200" cy="73152"/>
          </a:xfrm>
          <a:prstGeom prst="rect">
            <a:avLst/>
          </a:prstGeom>
          <a:solidFill>
            <a:srgbClr val="5B7FA6"/>
          </a:solidFill>
          <a:ln w="12700">
            <a:solidFill>
              <a:srgbClr val="5B7FA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27064" y="1353312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Coaching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227064" y="2084832"/>
            <a:ext cx="2468880" cy="18288"/>
          </a:xfrm>
          <a:prstGeom prst="rect">
            <a:avLst/>
          </a:prstGeom>
          <a:solidFill>
            <a:srgbClr val="EBF0F6"/>
          </a:solidFill>
          <a:ln w="12700">
            <a:solidFill>
              <a:srgbClr val="EBF0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27064" y="2176272"/>
            <a:ext cx="2468880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1:1 sessions with Athena-generated progress reports; job search campaign management; offer negotiation strategy.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74320" y="4754880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A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Consulting line activates Q4 2026 pending regulatory clearance. All coaching engagements subject to Steven Tran's review.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Consulting Line — Coming Q4 2026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365760" y="80467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spc="100" kern="0" dirty="0">
                <a:solidFill>
                  <a:srgbClr val="5B7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FDA  ·  EU MDR  ·  ISO 13485  ·  MDSAP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365760" y="1161288"/>
            <a:ext cx="8412480" cy="22860"/>
          </a:xfrm>
          <a:prstGeom prst="rect">
            <a:avLst/>
          </a:prstGeom>
          <a:solidFill>
            <a:srgbClr val="5B7FA6"/>
          </a:solidFill>
          <a:ln w="12700">
            <a:solidFill>
              <a:srgbClr val="5B7F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32588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Submissions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737360"/>
            <a:ext cx="384048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510(k) &amp; De Novo strategy</a:t>
            </a:r>
            <a:endParaRPr lang="en-US" sz="14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PMA submission support</a:t>
            </a:r>
            <a:endParaRPr lang="en-US" sz="14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controls (21 CFR Part 820)</a:t>
            </a:r>
            <a:endParaRPr lang="en-US" sz="14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 system build &amp; training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846320" y="132588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Systems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846320" y="1737360"/>
            <a:ext cx="384048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QMS gap assessments (ISO 13485)</a:t>
            </a:r>
            <a:endParaRPr lang="en-US" sz="14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MDR Article 10 compliance</a:t>
            </a:r>
            <a:endParaRPr lang="en-US" sz="14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MDSAP audit preparation</a:t>
            </a:r>
            <a:endParaRPr lang="en-US" sz="14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Post-market surveillance programs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480560" y="1280160"/>
            <a:ext cx="22860" cy="2743200"/>
          </a:xfrm>
          <a:prstGeom prst="rect">
            <a:avLst/>
          </a:prstGeom>
          <a:solidFill>
            <a:srgbClr val="E0E0DC"/>
          </a:solidFill>
          <a:ln w="12700">
            <a:solidFill>
              <a:srgbClr val="E0E0D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EBF0F6"/>
          </a:solidFill>
          <a:ln w="12700">
            <a:solidFill>
              <a:srgbClr val="5B7F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4462272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Gated pending non-compete clearance + RAC credential.  Pipeline intake is open — contact to join the waitlist.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 rot="20400000">
            <a:off x="1371600" y="1645920"/>
            <a:ext cx="6400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8A8680">
                    <a:alpha val="1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COMING Q4 2026</a:t>
            </a:r>
            <a:endParaRPr lang="en-US" sz="6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Out-Execute at 1/10th the Cost</a:t>
            </a:r>
            <a:endParaRPr lang="en-US" sz="3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60120"/>
          <a:ext cx="841248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828800"/>
                <a:gridCol w="2194560"/>
                <a:gridCol w="219456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7FA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Legacy Big 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7FA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Tools (Lilli/GENE)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7FA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Latitude MedTech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7FA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Engagement minimum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months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Annual subscription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5B7F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Project-scoped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$350–$600/hr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$50k+ per year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5B7F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Value-based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Reasoning depth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Junior staff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Search-and-retrieve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5B7F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Senior AI + human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Regulatory depth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Generalist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Generalist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5B7F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MedTech-specific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Voice interface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5B7F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(Athena)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SoCal network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5B7F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Biocom-embedded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Client Profile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841248"/>
            <a:ext cx="8412480" cy="22860"/>
          </a:xfrm>
          <a:prstGeom prst="rect">
            <a:avLst/>
          </a:prstGeom>
          <a:solidFill>
            <a:srgbClr val="5B7FA6"/>
          </a:solidFill>
          <a:ln w="12700">
            <a:solidFill>
              <a:srgbClr val="5B7FA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" y="960120"/>
            <a:ext cx="2788920" cy="3931920"/>
          </a:xfrm>
          <a:prstGeom prst="rect">
            <a:avLst/>
          </a:prstGeom>
          <a:solidFill>
            <a:srgbClr val="EBF0F6"/>
          </a:solidFill>
          <a:ln w="12700">
            <a:solidFill>
              <a:srgbClr val="5B7FA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38328" y="1078992"/>
            <a:ext cx="2578608" cy="256032"/>
          </a:xfrm>
          <a:prstGeom prst="rect">
            <a:avLst/>
          </a:prstGeom>
          <a:solidFill>
            <a:srgbClr val="5B7FA6"/>
          </a:solidFill>
          <a:ln w="12700">
            <a:solidFill>
              <a:srgbClr val="5B7F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38328" y="1078992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COACHING LINE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38328" y="1417320"/>
            <a:ext cx="2578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/ RA Professional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38328" y="1920240"/>
            <a:ext cx="2578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5B7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$95k–$130k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338328" y="2423160"/>
            <a:ext cx="257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comp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38328" y="2743200"/>
            <a:ext cx="2578608" cy="18288"/>
          </a:xfrm>
          <a:prstGeom prst="rect">
            <a:avLst/>
          </a:prstGeom>
          <a:solidFill>
            <a:srgbClr val="5B7FA6"/>
          </a:solidFill>
          <a:ln w="12700">
            <a:solidFill>
              <a:srgbClr val="5B7F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8328" y="2834640"/>
            <a:ext cx="2578608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Mid-career (5–10 yrs), targeting Director/VP transition</a:t>
            </a:r>
            <a:endParaRPr lang="en-US" sz="115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Frustrated by slow career velocity at OEM</a:t>
            </a:r>
            <a:endParaRPr lang="en-US" sz="115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SoCal-based, open to AI-enhanced coaching</a:t>
            </a:r>
            <a:endParaRPr lang="en-US" sz="115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RAC credential + 25%+ comp increase in 18 months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154680" y="960120"/>
            <a:ext cx="2788920" cy="3931920"/>
          </a:xfrm>
          <a:prstGeom prst="rect">
            <a:avLst/>
          </a:prstGeom>
          <a:solidFill>
            <a:srgbClr val="EBF0F6"/>
          </a:solidFill>
          <a:ln w="12700">
            <a:solidFill>
              <a:srgbClr val="5B7FA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64408" y="1078992"/>
            <a:ext cx="2578608" cy="256032"/>
          </a:xfrm>
          <a:prstGeom prst="rect">
            <a:avLst/>
          </a:prstGeom>
          <a:solidFill>
            <a:srgbClr val="5B7FA6"/>
          </a:solidFill>
          <a:ln w="12700">
            <a:solidFill>
              <a:srgbClr val="5B7F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64408" y="1078992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CONSULTING LINE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264408" y="1417320"/>
            <a:ext cx="2578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MedTech Startup (Series A/B)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264408" y="1920240"/>
            <a:ext cx="2578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5B7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$3M–$15M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3264408" y="2423160"/>
            <a:ext cx="257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raised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64408" y="2743200"/>
            <a:ext cx="2578608" cy="18288"/>
          </a:xfrm>
          <a:prstGeom prst="rect">
            <a:avLst/>
          </a:prstGeom>
          <a:solidFill>
            <a:srgbClr val="5B7FA6"/>
          </a:solidFill>
          <a:ln w="12700">
            <a:solidFill>
              <a:srgbClr val="5B7FA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64408" y="2834640"/>
            <a:ext cx="2578608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 Engineering or CEO at Class II device startup</a:t>
            </a:r>
            <a:endParaRPr lang="en-US" sz="115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18–24 months to 510(k) target clearance</a:t>
            </a:r>
            <a:endParaRPr lang="en-US" sz="115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in-house regulatory affairs staff</a:t>
            </a:r>
            <a:endParaRPr lang="en-US" sz="115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strategy, not a 6-month consulting commitment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080760" y="960120"/>
            <a:ext cx="2788920" cy="3931920"/>
          </a:xfrm>
          <a:prstGeom prst="rect">
            <a:avLst/>
          </a:prstGeom>
          <a:solidFill>
            <a:srgbClr val="EBF0F6"/>
          </a:solidFill>
          <a:ln w="12700">
            <a:solidFill>
              <a:srgbClr val="5B7FA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190488" y="1078992"/>
            <a:ext cx="2578608" cy="256032"/>
          </a:xfrm>
          <a:prstGeom prst="rect">
            <a:avLst/>
          </a:prstGeom>
          <a:solidFill>
            <a:srgbClr val="5B7FA6"/>
          </a:solidFill>
          <a:ln w="12700">
            <a:solidFill>
              <a:srgbClr val="5B7FA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90488" y="1078992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LINES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190488" y="1417320"/>
            <a:ext cx="2578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MedTech OEM L&amp;D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190488" y="1920240"/>
            <a:ext cx="2578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5B7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50–500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6190488" y="2423160"/>
            <a:ext cx="257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RA/QA teams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190488" y="2743200"/>
            <a:ext cx="2578608" cy="18288"/>
          </a:xfrm>
          <a:prstGeom prst="rect">
            <a:avLst/>
          </a:prstGeom>
          <a:solidFill>
            <a:srgbClr val="5B7FA6"/>
          </a:solidFill>
          <a:ln w="12700">
            <a:solidFill>
              <a:srgbClr val="5B7FA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90488" y="2834640"/>
            <a:ext cx="2578608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HR/L&amp;D Director at Edwards, Masimo, Dexcom</a:t>
            </a:r>
            <a:endParaRPr lang="en-US" sz="115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Seeking scalable regulatory upskilling programs</a:t>
            </a:r>
            <a:endParaRPr lang="en-US" sz="115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Budget: L&amp;D line item, not consulting project code</a:t>
            </a:r>
            <a:endParaRPr lang="en-US" sz="115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Outcome: faster cert attainment, lower attrition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377440" cy="514350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7160" y="457200"/>
            <a:ext cx="21031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</a:t>
            </a:r>
            <a:endParaRPr lang="en-US" sz="2200" dirty="0"/>
          </a:p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 Without</a:t>
            </a:r>
            <a:endParaRPr lang="en-US" sz="2200" dirty="0"/>
          </a:p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37160" y="3108960"/>
            <a:ext cx="2103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8A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Saturated channels </a:t>
            </a:r>
            <a:pPr algn="l" indent="0" marL="0">
              <a:buNone/>
            </a:pPr>
            <a:r>
              <a:rPr lang="en-US" sz="1100" b="1" i="1" dirty="0">
                <a:solidFill>
                  <a:srgbClr val="8A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off-limits:</a:t>
            </a:r>
            <a:endParaRPr lang="en-US" sz="1100" dirty="0"/>
          </a:p>
          <a:p>
            <a:pPr algn="l" indent="0" marL="0">
              <a:buNone/>
            </a:pPr>
            <a:r>
              <a:rPr lang="en-US" sz="1100" i="1" dirty="0">
                <a:solidFill>
                  <a:srgbClr val="8A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 feed ads,</a:t>
            </a:r>
            <a:endParaRPr lang="en-US" sz="1100" dirty="0"/>
          </a:p>
          <a:p>
            <a:pPr algn="l" indent="0" marL="0">
              <a:buNone/>
            </a:pPr>
            <a:r>
              <a:rPr lang="en-US" sz="1100" i="1" dirty="0">
                <a:solidFill>
                  <a:srgbClr val="8A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Instagram, YouTube,</a:t>
            </a:r>
            <a:endParaRPr lang="en-US" sz="1100" dirty="0"/>
          </a:p>
          <a:p>
            <a:pPr algn="l" indent="0" marL="0">
              <a:buNone/>
            </a:pPr>
            <a:r>
              <a:rPr lang="en-US" sz="1100" i="1" dirty="0">
                <a:solidFill>
                  <a:srgbClr val="8A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Ads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514600" y="164592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5B7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017520" y="164592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CONFERENCE CIRCUIT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017520" y="512064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presence at MD&amp;M West (Feb), Biocom Annual (Q1), RAPS Convergence (Oct). Strategy: corridor conversations, not booths. Speaking abstracts submitted 6 months out.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514600" y="1078992"/>
            <a:ext cx="6400800" cy="13716"/>
          </a:xfrm>
          <a:prstGeom prst="rect">
            <a:avLst/>
          </a:prstGeom>
          <a:solidFill>
            <a:srgbClr val="E0E0DC"/>
          </a:solidFill>
          <a:ln w="12700">
            <a:solidFill>
              <a:srgbClr val="E0E0D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14600" y="1124712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5B7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017520" y="1124712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PODCAST CIRCUIT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017520" y="1472184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 appearances on The Medical Device Podcast (Jon Speer / Greenlight Guru), MedTech Talk, RCFM. Pitch: "AI-native consulting — what it means for your 510(k)."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514600" y="2039112"/>
            <a:ext cx="6400800" cy="13716"/>
          </a:xfrm>
          <a:prstGeom prst="rect">
            <a:avLst/>
          </a:prstGeom>
          <a:solidFill>
            <a:srgbClr val="E0E0DC"/>
          </a:solidFill>
          <a:ln w="12700">
            <a:solidFill>
              <a:srgbClr val="E0E0D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14600" y="2084832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5B7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017520" y="2084832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CLINIC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017520" y="2432304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free 45-min office hours at Biocom San Diego. One specific regulatory question answered live. Upsell rate target: 20% to paid engagement.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2514600" y="2999232"/>
            <a:ext cx="6400800" cy="13716"/>
          </a:xfrm>
          <a:prstGeom prst="rect">
            <a:avLst/>
          </a:prstGeom>
          <a:solidFill>
            <a:srgbClr val="E0E0DC"/>
          </a:solidFill>
          <a:ln w="12700">
            <a:solidFill>
              <a:srgbClr val="E0E0D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14600" y="3044952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5B7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3017520" y="3044952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MEDTECH MERIDIAN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017520" y="3392424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Substack (target: 500 subscribers by Month 6). Format: one specific regulatory development + what it means for device companies. No AI fluff.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2514600" y="3959352"/>
            <a:ext cx="6400800" cy="13716"/>
          </a:xfrm>
          <a:prstGeom prst="rect">
            <a:avLst/>
          </a:prstGeom>
          <a:solidFill>
            <a:srgbClr val="E0E0DC"/>
          </a:solidFill>
          <a:ln w="12700">
            <a:solidFill>
              <a:srgbClr val="E0E0D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14600" y="4005072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5B7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3017520" y="4005072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FDA DOCKET PARTICIPATION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017520" y="4352544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comments on 2–3 open FDA guidance dockets per year as "Latitude MedTech LLC." Builds public regulatory credibility with zero ad spend.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Days to First Revenue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274320" y="868680"/>
            <a:ext cx="274320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D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274320" y="868680"/>
            <a:ext cx="2743200" cy="658368"/>
          </a:xfrm>
          <a:prstGeom prst="rect">
            <a:avLst/>
          </a:prstGeom>
          <a:solidFill>
            <a:srgbClr val="5B7FA6"/>
          </a:solidFill>
          <a:ln w="12700">
            <a:solidFill>
              <a:srgbClr val="5B7F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896112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1–30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84048" y="1170432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84048" y="1600200"/>
            <a:ext cx="2523744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Biocom membership activated — attend 2 chapter events</a:t>
            </a:r>
            <a:endParaRPr lang="en-US" sz="12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Podcast pitches sent: The Medical Device Podcast + MedTech Talk</a:t>
            </a:r>
            <a:endParaRPr lang="en-US" sz="12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Substack MedTech Meridian: first 4 issues published</a:t>
            </a:r>
            <a:endParaRPr lang="en-US" sz="12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RAPS SoCal Chapter: joined + first meeting attended</a:t>
            </a:r>
            <a:endParaRPr lang="en-US" sz="12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Pipeline: 20 targets identified and emailed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4572000"/>
            <a:ext cx="2743200" cy="411480"/>
          </a:xfrm>
          <a:prstGeom prst="rect">
            <a:avLst/>
          </a:prstGeom>
          <a:solidFill>
            <a:srgbClr val="EBF0F6"/>
          </a:solidFill>
          <a:ln w="12700">
            <a:solidFill>
              <a:srgbClr val="E0E0D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4590288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20 outreach emails sent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154680" y="868680"/>
            <a:ext cx="274320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D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54680" y="868680"/>
            <a:ext cx="2743200" cy="658368"/>
          </a:xfrm>
          <a:prstGeom prst="rect">
            <a:avLst/>
          </a:prstGeom>
          <a:solidFill>
            <a:srgbClr val="5B7FA6"/>
          </a:solidFill>
          <a:ln w="12700">
            <a:solidFill>
              <a:srgbClr val="5B7F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64408" y="896112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31–60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64408" y="1170432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264408" y="1600200"/>
            <a:ext cx="2523744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Clinic: first session held at Biocom SD</a:t>
            </a:r>
            <a:endParaRPr lang="en-US" sz="12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Conference: RAPS Convergence abstract submitted</a:t>
            </a:r>
            <a:endParaRPr lang="en-US" sz="12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Podcast: 1 confirmed recording date</a:t>
            </a:r>
            <a:endParaRPr lang="en-US" sz="12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Substack: 200 subscribers</a:t>
            </a:r>
            <a:endParaRPr lang="en-US" sz="12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Pipeline: 5 discovery calls completed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154680" y="4572000"/>
            <a:ext cx="2743200" cy="411480"/>
          </a:xfrm>
          <a:prstGeom prst="rect">
            <a:avLst/>
          </a:prstGeom>
          <a:solidFill>
            <a:srgbClr val="EBF0F6"/>
          </a:solidFill>
          <a:ln w="12700">
            <a:solidFill>
              <a:srgbClr val="E0E0D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64408" y="4590288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5 discovery calls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035040" y="868680"/>
            <a:ext cx="274320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D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035040" y="868680"/>
            <a:ext cx="2743200" cy="658368"/>
          </a:xfrm>
          <a:prstGeom prst="rect">
            <a:avLst/>
          </a:prstGeom>
          <a:solidFill>
            <a:srgbClr val="5B7FA6"/>
          </a:solidFill>
          <a:ln w="12700">
            <a:solidFill>
              <a:srgbClr val="5B7FA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44768" y="896112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61–90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144768" y="1170432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144768" y="1600200"/>
            <a:ext cx="2523744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paid coaching client: onboarded</a:t>
            </a:r>
            <a:endParaRPr lang="en-US" sz="12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Pipeline: 3 consulting waitlist signups</a:t>
            </a:r>
            <a:endParaRPr lang="en-US" sz="12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Podcast: 1 episode live</a:t>
            </a:r>
            <a:endParaRPr lang="en-US" sz="12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Substack: 350 subscribers</a:t>
            </a:r>
            <a:endParaRPr lang="en-US" sz="12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Speaking: 1 Biocom chapter talk confirmed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035040" y="4572000"/>
            <a:ext cx="2743200" cy="411480"/>
          </a:xfrm>
          <a:prstGeom prst="rect">
            <a:avLst/>
          </a:prstGeom>
          <a:solidFill>
            <a:srgbClr val="EBF0F6"/>
          </a:solidFill>
          <a:ln w="12700">
            <a:solidFill>
              <a:srgbClr val="E0E0D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44768" y="4590288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1 paid client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Proof Points (To Be Captured)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804672"/>
            <a:ext cx="8412480" cy="22860"/>
          </a:xfrm>
          <a:prstGeom prst="rect">
            <a:avLst/>
          </a:prstGeom>
          <a:solidFill>
            <a:srgbClr val="5B7FA6"/>
          </a:solidFill>
          <a:ln w="12700">
            <a:solidFill>
              <a:srgbClr val="5B7FA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" y="914400"/>
            <a:ext cx="274320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D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914400"/>
            <a:ext cx="73152" cy="3977640"/>
          </a:xfrm>
          <a:prstGeom prst="rect">
            <a:avLst/>
          </a:prstGeom>
          <a:solidFill>
            <a:srgbClr val="5B7FA6"/>
          </a:solidFill>
          <a:ln w="12700">
            <a:solidFill>
              <a:srgbClr val="5B7F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93192" y="987552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II Startup, San Diego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93192" y="1353312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5B7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510(k) Strategy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93192" y="1719072"/>
            <a:ext cx="2487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5B7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93192" y="1938528"/>
            <a:ext cx="2487168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 A device company, 2 engineers, no in-house RA/QA staff, 18 months to target launch date.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93192" y="2679192"/>
            <a:ext cx="2487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5B7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93192" y="2898648"/>
            <a:ext cx="2487168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3-month engagement: Athena-driven 510(k) gap analysis, predicate search, regulatory strategy roadmap.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93192" y="3639312"/>
            <a:ext cx="2487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5B7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93192" y="3858768"/>
            <a:ext cx="2487168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8A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[Outcome to be captured — Q4 2026]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154680" y="914400"/>
            <a:ext cx="274320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D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154680" y="914400"/>
            <a:ext cx="73152" cy="3977640"/>
          </a:xfrm>
          <a:prstGeom prst="rect">
            <a:avLst/>
          </a:prstGeom>
          <a:solidFill>
            <a:srgbClr val="5B7FA6"/>
          </a:solidFill>
          <a:ln w="12700">
            <a:solidFill>
              <a:srgbClr val="5B7FA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19272" y="987552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Manager to Director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319272" y="1353312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5B7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14-Month Coaching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319272" y="1719072"/>
            <a:ext cx="2487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5B7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SITUATION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319272" y="1938528"/>
            <a:ext cx="2487168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8-year QA professional plateaued at $102k, targeting Director role at a Tier 1 device OEM.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3319272" y="2679192"/>
            <a:ext cx="2487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5B7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319272" y="2898648"/>
            <a:ext cx="2487168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Latitude coaching program: RAC prep, positioning strategy, technical interview coaching.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3319272" y="3639312"/>
            <a:ext cx="2487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5B7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319272" y="3858768"/>
            <a:ext cx="2487168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8A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[Outcome to be captured]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080760" y="914400"/>
            <a:ext cx="274320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D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080760" y="914400"/>
            <a:ext cx="73152" cy="3977640"/>
          </a:xfrm>
          <a:prstGeom prst="rect">
            <a:avLst/>
          </a:prstGeom>
          <a:solidFill>
            <a:srgbClr val="5B7FA6"/>
          </a:solidFill>
          <a:ln w="12700">
            <a:solidFill>
              <a:srgbClr val="5B7FA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45352" y="987552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13485 QMS Build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245352" y="1353312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5B7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60-Day Engagement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245352" y="1719072"/>
            <a:ext cx="2487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5B7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SITUATION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245352" y="1938528"/>
            <a:ext cx="2487168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device startup needed QMS for Notified Body submission under EU MDR Article 10.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6245352" y="2679192"/>
            <a:ext cx="2487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5B7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245352" y="2898648"/>
            <a:ext cx="2487168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Athena-generated QMS framework, gap assessment against ISO 13485:2016 + MDSAP requirements.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6245352" y="3639312"/>
            <a:ext cx="2487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5B7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245352" y="3858768"/>
            <a:ext cx="2487168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8A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[Outcome to be captured]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228600" y="4818888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8A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studies collected from paying engagements and published only with explicit client approval. Identifying details anonymised.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5B7FA6"/>
          </a:solidFill>
          <a:ln w="12700">
            <a:solidFill>
              <a:srgbClr val="5B7F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40080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Talk</a:t>
            </a:r>
            <a:endParaRPr lang="en-US" sz="46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03520" cy="27432"/>
          </a:xfrm>
          <a:prstGeom prst="rect">
            <a:avLst/>
          </a:prstGeom>
          <a:solidFill>
            <a:srgbClr val="5B7FA6"/>
          </a:solidFill>
          <a:ln w="12700">
            <a:solidFill>
              <a:srgbClr val="5B7F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91640"/>
            <a:ext cx="530352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30-minute discovery call — no obligation, no pitch deck</a:t>
            </a:r>
            <a:endParaRPr lang="en-US" sz="14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will answer one specific regulatory or career question on the call</a:t>
            </a:r>
            <a:endParaRPr lang="en-US" sz="14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5B7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steven.tran@latitudemedtech.com</a:t>
            </a:r>
            <a:endParaRPr lang="en-US" sz="14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5B7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latitudemedtech.com</a:t>
            </a:r>
            <a:endParaRPr lang="en-US" sz="1400" dirty="0"/>
          </a:p>
          <a:p>
            <a:pPr algn="l" marL="342900" indent="-342900">
              <a:buSzPct val="100000"/>
              <a:buChar char="•"/>
            </a:pPr>
            <a:r>
              <a:rPr lang="en-US" sz="1400" dirty="0">
                <a:solidFill>
                  <a:srgbClr val="5B7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linkedin.com/in/huanntran100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429768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8A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best consultants don’t sell engagements.</a:t>
            </a:r>
            <a:endParaRPr lang="en-US" sz="1300" dirty="0"/>
          </a:p>
          <a:p>
            <a:pPr algn="l" indent="0" marL="0">
              <a:buNone/>
            </a:pPr>
            <a:r>
              <a:rPr lang="en-US" sz="1300" i="1" dirty="0">
                <a:solidFill>
                  <a:srgbClr val="8A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solve problems.”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675120" y="1280160"/>
            <a:ext cx="2103120" cy="2103120"/>
          </a:xfrm>
          <a:prstGeom prst="rect">
            <a:avLst/>
          </a:prstGeom>
          <a:solidFill>
            <a:srgbClr val="1E1E1E"/>
          </a:solidFill>
          <a:ln w="12700">
            <a:solidFill>
              <a:srgbClr val="8A86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75120" y="1280160"/>
            <a:ext cx="21031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A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CODE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8A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Page</a:t>
            </a:r>
            <a:endParaRPr lang="en-US" sz="1100" dirty="0"/>
          </a:p>
          <a:p>
            <a:pPr algn="ctr" indent="0" marL="0">
              <a:buNone/>
            </a:pPr>
            <a:endParaRPr lang="en-US" sz="11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8A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Calendly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8A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here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5B7FA6"/>
          </a:solidFill>
          <a:ln w="12700">
            <a:solidFill>
              <a:srgbClr val="5B7F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37160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spc="5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LATITUDE MEDTECH</a:t>
            </a:r>
            <a:endParaRPr lang="en-US" sz="5200" dirty="0"/>
          </a:p>
        </p:txBody>
      </p:sp>
      <p:sp>
        <p:nvSpPr>
          <p:cNvPr id="4" name="Shape 2"/>
          <p:cNvSpPr/>
          <p:nvPr/>
        </p:nvSpPr>
        <p:spPr>
          <a:xfrm>
            <a:off x="2286000" y="2514600"/>
            <a:ext cx="4572000" cy="36576"/>
          </a:xfrm>
          <a:prstGeom prst="rect">
            <a:avLst/>
          </a:prstGeom>
          <a:solidFill>
            <a:srgbClr val="5B7FA6"/>
          </a:solidFill>
          <a:ln w="12700">
            <a:solidFill>
              <a:srgbClr val="5B7F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6974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spc="300" kern="0" dirty="0">
                <a:solidFill>
                  <a:srgbClr val="5B7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Identity Standards  ·  2026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44805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A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internal use. Applies to all client-facing and digital outputs.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Colors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20040" y="914400"/>
            <a:ext cx="1298448" cy="219456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514600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#1A1A1A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20040" y="3200400"/>
            <a:ext cx="1298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LM BLACK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3520440"/>
            <a:ext cx="12984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Text / Headings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755648" y="914400"/>
            <a:ext cx="1298448" cy="2194560"/>
          </a:xfrm>
          <a:prstGeom prst="rect">
            <a:avLst/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755648" y="2514600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#2C3E50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755648" y="3200400"/>
            <a:ext cx="1298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LM SLATE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755648" y="3520440"/>
            <a:ext cx="12984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Headings / Nav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191256" y="914400"/>
            <a:ext cx="1298448" cy="2194560"/>
          </a:xfrm>
          <a:prstGeom prst="rect">
            <a:avLst/>
          </a:prstGeom>
          <a:solidFill>
            <a:srgbClr val="5B7FA6"/>
          </a:solidFill>
          <a:ln w="12700">
            <a:solidFill>
              <a:srgbClr val="5B7F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91256" y="2514600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#5B7FA6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191256" y="3200400"/>
            <a:ext cx="1298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LM BLUE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191256" y="3520440"/>
            <a:ext cx="12984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Accent / Links / Rules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26864" y="914400"/>
            <a:ext cx="1298448" cy="2194560"/>
          </a:xfrm>
          <a:prstGeom prst="rect">
            <a:avLst/>
          </a:prstGeom>
          <a:solidFill>
            <a:srgbClr val="8A8680"/>
          </a:solidFill>
          <a:ln w="12700">
            <a:solidFill>
              <a:srgbClr val="8A868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26864" y="2514600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#8A8680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626864" y="3200400"/>
            <a:ext cx="1298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LM MUTED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626864" y="3520440"/>
            <a:ext cx="12984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Captions / Metadata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062472" y="914400"/>
            <a:ext cx="1298448" cy="2194560"/>
          </a:xfrm>
          <a:prstGeom prst="rect">
            <a:avLst/>
          </a:prstGeom>
          <a:solidFill>
            <a:srgbClr val="F7F7F6"/>
          </a:solidFill>
          <a:ln w="12700">
            <a:solidFill>
              <a:srgbClr val="E0E0D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62472" y="2514600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#F7F7F6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062472" y="3200400"/>
            <a:ext cx="1298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LM OFF-WHITE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062472" y="3520440"/>
            <a:ext cx="12984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Background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498080" y="914400"/>
            <a:ext cx="1298448" cy="2194560"/>
          </a:xfrm>
          <a:prstGeom prst="rect">
            <a:avLst/>
          </a:prstGeom>
          <a:solidFill>
            <a:srgbClr val="EBF0F6"/>
          </a:solidFill>
          <a:ln w="12700">
            <a:solidFill>
              <a:srgbClr val="E0E0D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98080" y="2514600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#EBF0F6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498080" y="3200400"/>
            <a:ext cx="1298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LM BLUE TINT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498080" y="3520440"/>
            <a:ext cx="12984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 Backgrounds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Typography System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50" kern="0" dirty="0">
                <a:solidFill>
                  <a:srgbClr val="8A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 — Calibri Bold 32pt · #1A1A1A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121615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Strategy for the AI Era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50" kern="0" dirty="0">
                <a:solidFill>
                  <a:srgbClr val="8A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 — Calibri Regular 22pt · #2C3E50 · Tracked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226771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200" spc="300" kern="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510(k) PATHWAY ANALYSIS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28346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50" kern="0" dirty="0">
                <a:solidFill>
                  <a:srgbClr val="8A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— Calibri Regular 15pt · #1A1A1A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309067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Latitude MedTech delivers AI-native management consulting to MedTech and Pharma companies in the Southern California corridor. All client outputs are reviewed by Steven Tran before delivery.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4480560"/>
            <a:ext cx="8229600" cy="18288"/>
          </a:xfrm>
          <a:prstGeom prst="rect">
            <a:avLst/>
          </a:prstGeom>
          <a:solidFill>
            <a:srgbClr val="E0E0DC"/>
          </a:solidFill>
          <a:ln w="12700">
            <a:solidFill>
              <a:srgbClr val="E0E0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455371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50" kern="0" dirty="0">
                <a:solidFill>
                  <a:srgbClr val="8A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Caption — Calibri 10pt · #8A8680 · All caps · Tracked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114800" y="453542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8A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PURPOSES ONLY  ·  NOT REGULATORY ADVICE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 Usage Guidelines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480560" y="868680"/>
            <a:ext cx="18288" cy="3657600"/>
          </a:xfrm>
          <a:prstGeom prst="rect">
            <a:avLst/>
          </a:prstGeom>
          <a:solidFill>
            <a:srgbClr val="E0E0DC"/>
          </a:solidFill>
          <a:ln w="12700">
            <a:solidFill>
              <a:srgbClr val="E0E0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868680"/>
            <a:ext cx="502920" cy="292608"/>
          </a:xfrm>
          <a:prstGeom prst="rect">
            <a:avLst/>
          </a:prstGeom>
          <a:solidFill>
            <a:srgbClr val="5B7FA6"/>
          </a:solidFill>
          <a:ln w="12700">
            <a:solidFill>
              <a:srgbClr val="5B7F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868680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1261872"/>
            <a:ext cx="39776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primary wordmark (black) on white or light backgrounds</a:t>
            </a:r>
            <a:endParaRPr lang="en-US" sz="1300" dirty="0"/>
          </a:p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reversed wordmark (white) on dark or photo backgrounds</a:t>
            </a:r>
            <a:endParaRPr lang="en-US" sz="1300" dirty="0"/>
          </a:p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clear space: 1× the height of the “L” on all sides</a:t>
            </a:r>
            <a:endParaRPr lang="en-US" sz="1300" dirty="0"/>
          </a:p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icon mark alone only when brand context is established</a:t>
            </a:r>
            <a:endParaRPr lang="en-US" sz="1300" dirty="0"/>
          </a:p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Calibri as the sole typeface in all brand materials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09160" y="868680"/>
            <a:ext cx="822960" cy="2926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09160" y="86868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DON’T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709160" y="1261872"/>
            <a:ext cx="406908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stretch, skew, or rotate the mark</a:t>
            </a:r>
            <a:endParaRPr lang="en-US" sz="1300" dirty="0"/>
          </a:p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use LM BLUE (#5B7FA6) for the wordmark text — it is always black or white</a:t>
            </a:r>
            <a:endParaRPr lang="en-US" sz="1300" dirty="0"/>
          </a:p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place the mark on busy photographic backgrounds</a:t>
            </a:r>
            <a:endParaRPr lang="en-US" sz="1300" dirty="0"/>
          </a:p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use fonts other than Calibri in brand materials</a:t>
            </a:r>
            <a:endParaRPr lang="en-US" sz="1300" dirty="0"/>
          </a:p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display the mark below 0.75" width in print, or 54px wide on screen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Standards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365760" y="74980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8A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to: Word (.docx), PDF deliverables, coaching reports, client briefs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1078992"/>
            <a:ext cx="8412480" cy="22860"/>
          </a:xfrm>
          <a:prstGeom prst="rect">
            <a:avLst/>
          </a:prstGeom>
          <a:solidFill>
            <a:srgbClr val="5B7FA6"/>
          </a:solidFill>
          <a:ln w="12700">
            <a:solidFill>
              <a:srgbClr val="5B7FA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88720"/>
            <a:ext cx="2194560" cy="384048"/>
          </a:xfrm>
          <a:prstGeom prst="rect">
            <a:avLst/>
          </a:prstGeom>
          <a:solidFill>
            <a:srgbClr val="EBF0F6"/>
          </a:solidFill>
          <a:ln w="6350">
            <a:solidFill>
              <a:srgbClr val="E0E0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3444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size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651760" y="1225296"/>
            <a:ext cx="6126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Letter (8.5" × 11")  ·  Margins: 1" all sides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65760" y="1664208"/>
            <a:ext cx="2194560" cy="384048"/>
          </a:xfrm>
          <a:prstGeom prst="rect">
            <a:avLst/>
          </a:prstGeom>
          <a:solidFill>
            <a:srgbClr val="EBF0F6"/>
          </a:solidFill>
          <a:ln w="6350">
            <a:solidFill>
              <a:srgbClr val="E0E0D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70992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651760" y="1700784"/>
            <a:ext cx="6126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"LATITUDE MEDTECH LLC" — right-aligned, 7.5pt, LM BLUE (#5B7FA6)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65760" y="2139696"/>
            <a:ext cx="2194560" cy="384048"/>
          </a:xfrm>
          <a:prstGeom prst="rect">
            <a:avLst/>
          </a:prstGeom>
          <a:solidFill>
            <a:srgbClr val="EBF0F6"/>
          </a:solidFill>
          <a:ln w="6350">
            <a:solidFill>
              <a:srgbClr val="E0E0D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185416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Footer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651760" y="2176272"/>
            <a:ext cx="6126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Latitude MedTech LLC  ·  San Diego, CA  ·  latitudemedtech.com  ·  Generated [date]  ·  Educational purposes only — not regulatory advice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65760" y="2615184"/>
            <a:ext cx="2194560" cy="384048"/>
          </a:xfrm>
          <a:prstGeom prst="rect">
            <a:avLst/>
          </a:prstGeom>
          <a:solidFill>
            <a:srgbClr val="EBF0F6"/>
          </a:solidFill>
          <a:ln w="6350">
            <a:solidFill>
              <a:srgbClr val="E0E0D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66090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stats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651760" y="2651760"/>
            <a:ext cx="6126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Calibri Bold 48pt, LM BLUE — used for key numbers in briefs and reports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65760" y="3090672"/>
            <a:ext cx="2194560" cy="384048"/>
          </a:xfrm>
          <a:prstGeom prst="rect">
            <a:avLst/>
          </a:prstGeom>
          <a:solidFill>
            <a:srgbClr val="EBF0F6"/>
          </a:solidFill>
          <a:ln w="6350">
            <a:solidFill>
              <a:srgbClr val="E0E0D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13639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rules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651760" y="3127248"/>
            <a:ext cx="6126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1.5pt LM BLUE horizontal line between major sections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65760" y="3566160"/>
            <a:ext cx="2194560" cy="384048"/>
          </a:xfrm>
          <a:prstGeom prst="rect">
            <a:avLst/>
          </a:prstGeom>
          <a:solidFill>
            <a:srgbClr val="EBF0F6"/>
          </a:solidFill>
          <a:ln w="6350">
            <a:solidFill>
              <a:srgbClr val="E0E0D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61188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headers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651760" y="3602736"/>
            <a:ext cx="6126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LM BLUE fill (#5B7FA6), white bold text, Calibri 12pt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365760" y="4041648"/>
            <a:ext cx="2194560" cy="384048"/>
          </a:xfrm>
          <a:prstGeom prst="rect">
            <a:avLst/>
          </a:prstGeom>
          <a:solidFill>
            <a:srgbClr val="EBF0F6"/>
          </a:solidFill>
          <a:ln w="6350">
            <a:solidFill>
              <a:srgbClr val="E0E0D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408736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Disclaimer block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651760" y="4078224"/>
            <a:ext cx="6126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9pt italic LM MUTED, bottom of last page, every deliverable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365760" y="4517136"/>
            <a:ext cx="2194560" cy="384048"/>
          </a:xfrm>
          <a:prstGeom prst="rect">
            <a:avLst/>
          </a:prstGeom>
          <a:solidFill>
            <a:srgbClr val="EBF0F6"/>
          </a:solidFill>
          <a:ln w="6350">
            <a:solidFill>
              <a:srgbClr val="E0E0D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4562856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label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651760" y="4553712"/>
            <a:ext cx="6126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"Alpha Phase — Steven Tran Review Required" on all client-facing drafts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5B7FA6"/>
          </a:solidFill>
          <a:ln w="12700">
            <a:solidFill>
              <a:srgbClr val="5B7F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Latitude Standard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877824"/>
            <a:ext cx="8229600" cy="22860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0584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5B7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43000" y="1005840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SPECIFICITY OVER GENERALITY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43000" y="1344168"/>
            <a:ext cx="722376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A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deliverable contains at least one specific, verifiable claim. No unsourced numbers. No vague language.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82880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5B7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143000" y="1828800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OVER VOLUME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43000" y="2167128"/>
            <a:ext cx="722376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A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well-reasoned brief outperforms ten generic reports. Fewer pages, more value per page.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265176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5B7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143000" y="2651760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SOURCED, NOT FABRICATED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43000" y="2990088"/>
            <a:ext cx="722376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A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statistics cite a regulatory filing, guidance document, company announcement, or named publication.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347472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5B7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143000" y="3474720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HUMAN-GATED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43000" y="3813048"/>
            <a:ext cx="722376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A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client output ships without Steven Tran’s review and approval. AI augments; humans sign.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429768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5B7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143000" y="4297680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DIGNITY IN ALL COMMUNICATIONS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43000" y="4636008"/>
            <a:ext cx="722376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A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 are partners, not accounts. Competitors are respected, not disparaged.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Latitude MedTech LLC — Brand &amp; Sales Deck</dc:title>
  <dc:subject>PptxGenJS Presentation</dc:subject>
  <dc:creator>Latitude MedTech LLC</dc:creator>
  <cp:lastModifiedBy>Latitude MedTech LLC</cp:lastModifiedBy>
  <cp:revision>1</cp:revision>
  <dcterms:created xsi:type="dcterms:W3CDTF">2026-06-05T18:09:20Z</dcterms:created>
  <dcterms:modified xsi:type="dcterms:W3CDTF">2026-06-05T18:09:20Z</dcterms:modified>
</cp:coreProperties>
</file>